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6" r:id="rId13"/>
    <p:sldId id="264" r:id="rId14"/>
    <p:sldId id="265" r:id="rId15"/>
    <p:sldId id="266" r:id="rId16"/>
    <p:sldId id="273" r:id="rId17"/>
    <p:sldId id="267" r:id="rId18"/>
    <p:sldId id="268" r:id="rId19"/>
    <p:sldId id="269" r:id="rId20"/>
    <p:sldId id="270" r:id="rId21"/>
    <p:sldId id="271" r:id="rId22"/>
    <p:sldId id="275" r:id="rId23"/>
    <p:sldId id="272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FFA1A2-129F-8542-A8CE-0017333B7E05}" v="18" dt="2026-04-20T21:09:45.890"/>
    <p1510:client id="{6FC3AD55-00C3-5219-99C3-DBA1CFEF84C5}" v="283" dt="2026-04-20T21:15:55.341"/>
    <p1510:client id="{8AB47864-5A26-4BFD-9007-90D1FD141BE4}" v="47" dt="2026-04-20T21:24:47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50" b="0" i="0" u="none" strike="noStrike" dirty="0">
                <a:solidFill>
                  <a:srgbClr val="000000"/>
                </a:solidFill>
                <a:latin typeface="Arial"/>
              </a:rPr>
              <a:t>Severity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F5-4E23-AE14-F36B37F6ED0B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F5-4E23-AE14-F36B37F6ED0B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F5-4E23-AE14-F36B37F6ED0B}"/>
              </c:ext>
            </c:extLst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F5-4E23-AE14-F36B37F6ED0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F5-4E23-AE14-F36B37F6ED0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F5-4E23-AE14-F36B37F6ED0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EF5-4E23-AE14-F36B37F6ED0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EF5-4E23-AE14-F36B37F6ED0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Sev 1</c:v>
                </c:pt>
                <c:pt idx="1">
                  <c:v>Sev 2</c:v>
                </c:pt>
                <c:pt idx="2">
                  <c:v>Sev 3</c:v>
                </c:pt>
                <c:pt idx="3">
                  <c:v>Sev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67366</c:v>
                </c:pt>
                <c:pt idx="1">
                  <c:v>6156981</c:v>
                </c:pt>
                <c:pt idx="2">
                  <c:v>1299337</c:v>
                </c:pt>
                <c:pt idx="3">
                  <c:v>204710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EF5-4E23-AE14-F36B37F6E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250410104986876"/>
          <c:y val="0.89806136011844651"/>
          <c:w val="0.67499179790026242"/>
          <c:h val="9.6596759539672922E-2"/>
        </c:manualLayout>
      </c:layout>
      <c:overlay val="0"/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Accidents by Hour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 by Hour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55000</c:v>
                </c:pt>
                <c:pt idx="1">
                  <c:v>32000</c:v>
                </c:pt>
                <c:pt idx="2">
                  <c:v>22000</c:v>
                </c:pt>
                <c:pt idx="3">
                  <c:v>16000</c:v>
                </c:pt>
                <c:pt idx="4">
                  <c:v>14000</c:v>
                </c:pt>
                <c:pt idx="5">
                  <c:v>32000</c:v>
                </c:pt>
                <c:pt idx="6">
                  <c:v>95000</c:v>
                </c:pt>
                <c:pt idx="7">
                  <c:v>285000</c:v>
                </c:pt>
                <c:pt idx="8">
                  <c:v>340000</c:v>
                </c:pt>
                <c:pt idx="9">
                  <c:v>210000</c:v>
                </c:pt>
                <c:pt idx="10">
                  <c:v>195000</c:v>
                </c:pt>
                <c:pt idx="11">
                  <c:v>200000</c:v>
                </c:pt>
                <c:pt idx="12">
                  <c:v>210000</c:v>
                </c:pt>
                <c:pt idx="13">
                  <c:v>215000</c:v>
                </c:pt>
                <c:pt idx="14">
                  <c:v>240000</c:v>
                </c:pt>
                <c:pt idx="15">
                  <c:v>310000</c:v>
                </c:pt>
                <c:pt idx="16">
                  <c:v>380000</c:v>
                </c:pt>
                <c:pt idx="17">
                  <c:v>400000</c:v>
                </c:pt>
                <c:pt idx="18">
                  <c:v>310000</c:v>
                </c:pt>
                <c:pt idx="19">
                  <c:v>220000</c:v>
                </c:pt>
                <c:pt idx="20">
                  <c:v>170000</c:v>
                </c:pt>
                <c:pt idx="21">
                  <c:v>145000</c:v>
                </c:pt>
                <c:pt idx="22">
                  <c:v>120000</c:v>
                </c:pt>
                <c:pt idx="23">
                  <c:v>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A8-499C-B4BB-ECD15C299C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Accidents by Weather Condition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 (millions)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Fair</c:v>
                </c:pt>
                <c:pt idx="1">
                  <c:v>Mostly Cloudy</c:v>
                </c:pt>
                <c:pt idx="2">
                  <c:v>Cloudy</c:v>
                </c:pt>
                <c:pt idx="3">
                  <c:v>Partly Cloudy</c:v>
                </c:pt>
                <c:pt idx="4">
                  <c:v>Light Rain</c:v>
                </c:pt>
                <c:pt idx="5">
                  <c:v>Overcast</c:v>
                </c:pt>
                <c:pt idx="6">
                  <c:v>Clear</c:v>
                </c:pt>
                <c:pt idx="7">
                  <c:v>Scattered Clouds</c:v>
                </c:pt>
                <c:pt idx="8">
                  <c:v>Light Snow</c:v>
                </c:pt>
                <c:pt idx="9">
                  <c:v>Heavy Rain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2.5</c:v>
                </c:pt>
                <c:pt idx="1">
                  <c:v>0.92</c:v>
                </c:pt>
                <c:pt idx="2">
                  <c:v>0.76</c:v>
                </c:pt>
                <c:pt idx="3">
                  <c:v>0.72</c:v>
                </c:pt>
                <c:pt idx="4">
                  <c:v>0.57999999999999996</c:v>
                </c:pt>
                <c:pt idx="5">
                  <c:v>0.54</c:v>
                </c:pt>
                <c:pt idx="6">
                  <c:v>0.5</c:v>
                </c:pt>
                <c:pt idx="7">
                  <c:v>0.44</c:v>
                </c:pt>
                <c:pt idx="8">
                  <c:v>0.22</c:v>
                </c:pt>
                <c:pt idx="9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C4-4029-927A-47AE9D1020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0.11154</cdr:y>
    </cdr:from>
    <cdr:to>
      <cdr:x>1</cdr:x>
      <cdr:y>0.92379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95A7154C-E6D7-A1AF-CD95-D3D4D0384DA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265176"/>
          <a:ext cx="2926080" cy="193109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40938F67-74DB-CE19-B818-46F92F6EB78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369179" cy="2956816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B2257496-D942-9DE4-CFCB-5E2A1485C55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891617" cy="5540220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6A657EDA-46D8-03EC-6ECE-C7B09B3AD63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247248" cy="518967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434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B35D-5209-4E97-5A9B-0FFD6A08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864DE-8E2D-879B-15EA-128431B93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095B9-88B2-038D-FCA1-39D924B2B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FEC02-23DC-923F-FA0F-6BFCC2E85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1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Analytics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Engineering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7315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</a:t>
            </a:r>
            <a:r>
              <a:rPr lang="en-US" sz="1400" b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Malaviya  ·  Rohan Raju  ·  </a:t>
            </a:r>
            <a:r>
              <a:rPr lang="en-IN" sz="1400" b="1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Prasanth Jayabal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DAMG7370 · Northeastern University  |  April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554480" cy="347472"/>
          </a:xfrm>
          <a:prstGeom prst="rect">
            <a:avLst/>
          </a:prstGeom>
          <a:solidFill>
            <a:srgbClr val="102840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Azure ADLS Gen2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58568" y="4206240"/>
            <a:ext cx="1554480" cy="347472"/>
          </a:xfrm>
          <a:prstGeom prst="rect">
            <a:avLst/>
          </a:prstGeom>
          <a:solidFill>
            <a:srgbClr val="102840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5856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Databricks PySpark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68496" y="4206240"/>
            <a:ext cx="1554480" cy="347472"/>
          </a:xfrm>
          <a:prstGeom prst="rect">
            <a:avLst/>
          </a:prstGeom>
          <a:solidFill>
            <a:srgbClr val="102840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968496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Azure SQL DB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78424" y="4206240"/>
            <a:ext cx="1554480" cy="347472"/>
          </a:xfrm>
          <a:prstGeom prst="rect">
            <a:avLst/>
          </a:prstGeom>
          <a:solidFill>
            <a:srgbClr val="102840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78424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Power BI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88352" y="4206240"/>
            <a:ext cx="1554480" cy="347472"/>
          </a:xfrm>
          <a:prstGeom prst="rect">
            <a:avLst/>
          </a:prstGeom>
          <a:solidFill>
            <a:srgbClr val="102840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88352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Azure Data Factory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Accidents Dataset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7.7 Million Rows of Traffic Accident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508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7.73M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160020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057400" y="1600200"/>
            <a:ext cx="1508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57400" y="1691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57400" y="22128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60020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49040" y="1600200"/>
            <a:ext cx="1508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749040" y="1691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22128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160020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40680" y="1600200"/>
            <a:ext cx="1508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40680" y="1691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2128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1600200"/>
            <a:ext cx="1508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132320" y="1600200"/>
            <a:ext cx="1508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132320" y="1691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22128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Key Columns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9808" y="33558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City, County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49808" y="3767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(1–4)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808" y="4178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Start_Time, End_Time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38328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56048" y="33558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Weather_Condition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379476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56048" y="3767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Visibility, Wind_Speed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420624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56048" y="4178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/ Longitude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sobhanmoosavi/us-accidents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We Answer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572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74066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0F172A"/>
                </a:solidFill>
                <a:ea typeface="+mn-lt"/>
                <a:cs typeface="+mn-lt"/>
              </a:rPr>
              <a:t>Which US states are the most accident-prone?</a:t>
            </a:r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229600" cy="53035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IN"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221992"/>
            <a:ext cx="4572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267712"/>
            <a:ext cx="74066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0F172A"/>
                </a:solidFill>
                <a:ea typeface="+mn-lt"/>
                <a:cs typeface="+mn-lt"/>
              </a:rPr>
              <a:t>What time of day and year are accidents most likely to occur?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4572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84378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889504"/>
            <a:ext cx="74066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0F172A"/>
                </a:solidFill>
                <a:ea typeface="+mn-lt"/>
                <a:cs typeface="+mn-lt"/>
              </a:rPr>
              <a:t>How severe are accidents across different states and conditions?</a:t>
            </a:r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8229600" cy="53035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4572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46557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511296"/>
            <a:ext cx="74066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0F172A"/>
                </a:solidFill>
                <a:ea typeface="+mn-lt"/>
                <a:cs typeface="+mn-lt"/>
              </a:rPr>
              <a:t>Does weather actually cause more accidents or do people drive worse in good weather?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" y="4087368"/>
            <a:ext cx="4572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40873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133088"/>
            <a:ext cx="74066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0F172A"/>
                </a:solidFill>
                <a:ea typeface="+mn-lt"/>
                <a:cs typeface="+mn-lt"/>
              </a:rPr>
              <a:t>Has road safety in the US improved or worsened over 2016–2023?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Architecture</a:t>
            </a:r>
            <a:endParaRPr lang="en-US" sz="2800" dirty="0"/>
          </a:p>
        </p:txBody>
      </p:sp>
      <p:pic>
        <p:nvPicPr>
          <p:cNvPr id="36" name="Picture 3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A11B5F-F53E-D7C7-83AE-DC7C24499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037" y="1176616"/>
            <a:ext cx="5710331" cy="38912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Why Azure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6072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namespace, big data optimized, 10x cheaper than SQL 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PySpark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 for 7.7M rows; Parquet output 10x compressed vs CSV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0604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606040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76072" y="2679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orchestration with activity chaining; monitors each step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0604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63440" y="2606040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28032" y="2679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tables (max 400K rows); free tier; Power BI native connector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6118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" y="3611880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" y="3685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cross-filtering; native DirectQuery to Azure SQL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6118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3611880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28032" y="3685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(IaC)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8032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Azure resources codified; entire environment recreatable in 1 command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INGESTION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 → ADLS Gen2 Raw Container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80060" y="1711452"/>
            <a:ext cx="256032" cy="256032"/>
          </a:xfrm>
          <a:prstGeom prst="lin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0060" y="17114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58191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Resource Group in Canada Central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" y="2296668"/>
            <a:ext cx="256032" cy="256032"/>
          </a:xfrm>
          <a:prstGeom prst="lin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" y="22966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1671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Storage Account: deprojectstorage1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(ADLS Gen2, hierarchical namespace enabled)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" y="2881884"/>
            <a:ext cx="256032" cy="256032"/>
          </a:xfrm>
          <a:prstGeom prst="lin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060" y="28818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75234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containers: raw/  and  processed/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" y="3467100"/>
            <a:ext cx="256032" cy="256032"/>
          </a:xfrm>
          <a:prstGeom prst="lin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" y="34671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US_Accidents_March23.csv (3 GB)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to raw/accidents/ path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" y="4052316"/>
            <a:ext cx="256032" cy="256032"/>
          </a:xfrm>
          <a:prstGeom prst="lin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060" y="40523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9227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reads directly from ADLS via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mounted storage account key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1600200"/>
            <a:ext cx="274320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35040" y="16642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Azure Resources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2103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Resource Group: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21031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data-engineering-project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542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Storage Account: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60920" y="25420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deprojectstorage1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9809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Region: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60920" y="298094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Central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4198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Containers: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60920" y="341985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  +  processed/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38587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File: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38587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US_Accidents_March23.csv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4297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Size: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42976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GB  |  7,728,394 rows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EXPLORATION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Findings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01_ingest_explore.ipynb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Top Null Columns (Before Cleaning)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3931920" cy="1691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End_Lat / End_Lng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 (in)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Wind_Chill (°F)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Weather_Timestamp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Wind_Speed (mph)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846320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Schema Highlights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920240"/>
            <a:ext cx="3840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937760" y="192024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columns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0" y="19202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categories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267712"/>
            <a:ext cx="3840480" cy="30175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937760" y="226771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226771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Start_Time, End_Time, duration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2615184"/>
            <a:ext cx="3840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937760" y="261518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261518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Lat/Lng, State, City, Street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2962656"/>
            <a:ext cx="3840480" cy="30175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937760" y="296265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296265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Humidity, Visibility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3310128"/>
            <a:ext cx="3840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937760" y="331012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0" y="331012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1 (minor) to 4 (critical)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767328"/>
            <a:ext cx="8229600" cy="731520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" y="384048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</a:rPr>
              <a:t>Key Finding: 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828800" y="38404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253 rows dropped out of 7.73M — a 99.99% data retention rate. High-null columns (End_Lat, Wind_Chill, Precipitation) were dropped entirely rather than imputed.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TRANSFORMATION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02_clean_transform.ipynb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84048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38404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BEFORE CLEANING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7568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7,728,394 rows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columns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in 12+ columns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derived time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384048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937760" y="1600200"/>
            <a:ext cx="3840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AFTER CLEANING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07568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7,728,141 rows (99.99% retained)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columns (6 dropped)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Medians filled for numerics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derived columns added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891B2"/>
                </a:solidFill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Derived Columns Added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14600" y="365760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1460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365760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3657600"/>
            <a:ext cx="1920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2940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325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Columns: End_Lat, End_Lng, Wind_Chill(F), Precipitation(in), Description, Weather_Timestamp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B4EB-D31A-575F-D94B-37DBA4F5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B46E24-576B-F96A-916A-23811B95CE55}"/>
              </a:ext>
            </a:extLst>
          </p:cNvPr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012C9C-BB65-6266-DA5A-8A20CA3A12D8}"/>
              </a:ext>
            </a:extLst>
          </p:cNvPr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TRANSFORMATION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027F73-B0FD-0D29-3D56-79197B9A86E6}"/>
              </a:ext>
            </a:extLst>
          </p:cNvPr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800"/>
          </a:p>
        </p:txBody>
      </p:sp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6D0118-2C5A-9B0D-B13C-9BA868ED2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38" y="1185810"/>
            <a:ext cx="3916458" cy="17633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E007FC-B87E-CBD0-810C-BE76C7530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551" y="1185810"/>
            <a:ext cx="4496361" cy="1763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AF7D89-DF6A-6B39-311A-76C16247F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43" y="3089349"/>
            <a:ext cx="3917674" cy="18140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8C9580-E7D6-2C55-3C07-211143DB84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892" y="3091610"/>
            <a:ext cx="4497456" cy="18094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4872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TRANSFORMATION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agg_master Table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Aggregate Tables → Power BI-Ready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agg_by_state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rows · State, total_accidents, avg_severity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627632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1627632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agg_by_severity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011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 · Severity level, accident count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627632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0" y="1627632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agg_by_time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 rows · Year, Month, accident count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33472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2633472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7249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agg_by_weather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rows · Top 20 conditions, avg severity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2633472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0" y="2633472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27249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agg_by_hour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rows · Hour of day, accident count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585972"/>
            <a:ext cx="8412480" cy="960120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3585972"/>
            <a:ext cx="91440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94360" y="36316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</a:rPr>
              <a:t>⭐  agg_master  (~400K rows)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39517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Severity + Year + Hour + Weather_Condition + total_accidents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1986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all Power BI slicers to cross-filter simultaneously — standard denormalized fact table pattern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 — 6 Tables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057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deprojectserver2026.database.windows.net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572768"/>
            <a:ext cx="2057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5727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de-project-db  (Free Tier)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572768"/>
            <a:ext cx="2057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0" y="15727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Central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49440" y="1572768"/>
            <a:ext cx="2057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49440" y="15727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182880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Admin: sqladmin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8412480" cy="228599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agg_by_state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State, total_accidents, avg_severity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agg_by_severity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Severity,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agg_by_time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Year, Month, accidents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agg_by_weather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Weather_Condition, count, avg_severity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agg_by_hour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Hour, accidents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Time-of-day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agg_master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State, Severity, Year, Hour, Weather,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cross-filtering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ORCHESTRATION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pipeline_accident_analytics — Manual Trigger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2423160" cy="1371600"/>
          </a:xfrm>
          <a:prstGeom prst="rect">
            <a:avLst/>
          </a:prstGeom>
          <a:solidFill>
            <a:srgbClr val="0E4D8C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7007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</a:rPr>
              <a:t>Activity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4767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act_ingest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01_ingest_explore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CE"/>
                </a:solidFill>
              </a:rPr>
              <a:t>Load CSV → ADLS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CE"/>
                </a:solidFill>
              </a:rPr>
              <a:t>Explore schema &amp; stats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11196" y="2263140"/>
            <a:ext cx="786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9E0B"/>
                </a:solidFill>
              </a:rPr>
              <a:t>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59E0B"/>
                </a:solidFill>
              </a:rPr>
              <a:t>Success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94660" y="2231136"/>
            <a:ext cx="274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374136" y="1627632"/>
            <a:ext cx="242316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06140" y="17007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</a:rPr>
              <a:t>Activity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6140" y="194767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act_clean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6140" y="22860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02_clean_transform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06140" y="25420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CE"/>
                </a:solidFill>
              </a:rPr>
              <a:t>Clean nulls, add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CE"/>
                </a:solidFill>
              </a:rPr>
              <a:t>derived columns, Parquet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48528" y="2298192"/>
            <a:ext cx="573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9E0B"/>
                </a:solidFill>
              </a:rPr>
              <a:t>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59E0B"/>
                </a:solidFill>
              </a:rPr>
              <a:t>Success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97880" y="2240280"/>
            <a:ext cx="274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40780" y="1627632"/>
            <a:ext cx="2423160" cy="1371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40780" y="17007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CAE1"/>
                </a:solidFill>
              </a:rPr>
              <a:t>Activity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40780" y="194767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act_load_sql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40780" y="22860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03_load_sql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40780" y="25420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CE"/>
                </a:solidFill>
              </a:rPr>
              <a:t>Write 6 aggregate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CE"/>
                </a:solidFill>
              </a:rPr>
              <a:t>tables to Azure SQL DB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2420" y="3169920"/>
            <a:ext cx="8412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5300" y="32430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Configuration Details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300" y="35814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Factory: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29740" y="35814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adf-accident-analytics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1540" y="35814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Trigger: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35980" y="35814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(trigger_daily stopped — cost control)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300" y="39471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Linked Service: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29740" y="3947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ls_databricks → de-project-databricks → existing interactive cluster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1540" y="39471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Cluster: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35980" y="3947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Standard_D4ds_v5 · 16GB · 4 cores · Runtime 13.3 LTS · Auto-terminate 30 min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9433D58-5569-7A3B-98D8-6C55481F03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6"/>
          <a:stretch>
            <a:fillRect/>
          </a:stretch>
        </p:blipFill>
        <p:spPr bwMode="auto">
          <a:xfrm>
            <a:off x="940117" y="1261872"/>
            <a:ext cx="7263765" cy="360949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0AADF970-42E5-A756-AEAB-E960AC1B5151}"/>
              </a:ext>
            </a:extLst>
          </p:cNvPr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2C8C70-48F6-1018-B0A4-B5B97E8BDA00}"/>
              </a:ext>
            </a:extLst>
          </p:cNvPr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ORCHESTRATION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21EBE5-59D1-B8DD-FCF1-F0A265A6DB7B}"/>
              </a:ext>
            </a:extLst>
          </p:cNvPr>
          <p:cNvSpPr/>
          <p:nvPr/>
        </p:nvSpPr>
        <p:spPr>
          <a:xfrm>
            <a:off x="403860" y="594360"/>
            <a:ext cx="43205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 Pipeline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73030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1: National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Rankings &amp; Severity Distribution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7.73M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60020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14600" y="160020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146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14600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Severity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60020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12280" y="160020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1228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2048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000" dirty="0"/>
          </a:p>
        </p:txBody>
      </p:sp>
      <p:graphicFrame>
        <p:nvGraphicFramePr>
          <p:cNvPr id="24" name="Chart 1"/>
          <p:cNvGraphicFramePr/>
          <p:nvPr>
            <p:extLst>
              <p:ext uri="{D42A27DB-BD31-4B8C-83A1-F6EECF244321}">
                <p14:modId xmlns:p14="http://schemas.microsoft.com/office/powerpoint/2010/main" val="4245994793"/>
              </p:ext>
            </p:extLst>
          </p:nvPr>
        </p:nvGraphicFramePr>
        <p:xfrm>
          <a:off x="5852160" y="2446020"/>
          <a:ext cx="292608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8EEDEB6A-B838-01F5-BCC8-72AD75C17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1" y="2542032"/>
            <a:ext cx="5364480" cy="21490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2: Time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Trends &amp; Rush Hour Patterns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1520040731"/>
              </p:ext>
            </p:extLst>
          </p:nvPr>
        </p:nvGraphicFramePr>
        <p:xfrm>
          <a:off x="5189220" y="1600200"/>
          <a:ext cx="35890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50292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Accidents grew steadily 2016–2022 (+440%)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670048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2023 drop: dataset ends March 2023 (partial year)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837176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🕗  Peak hours: 7–8 AM and 4–5 PM (rush hour)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004304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Lowest: 3–4 AM (minimal traffic)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7231FB-2DC6-8150-0003-2078A6C3B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744885"/>
            <a:ext cx="4701540" cy="21795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3: Weather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Fair-Weather Paradox &amp; Severity by Condition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995971343"/>
              </p:ext>
            </p:extLst>
          </p:nvPr>
        </p:nvGraphicFramePr>
        <p:xfrm>
          <a:off x="365760" y="1600200"/>
          <a:ext cx="50292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600200"/>
            <a:ext cx="3200400" cy="25146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669280" y="1691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The Fair-Weather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0" y="2377440"/>
            <a:ext cx="2834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66928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weather has 2.5M accidents — the most of any condition.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299923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Drivers over-confident in clear conditions → higher speeds → more accidents. Bad weather causes caution; good weather breeds complacency.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4224528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Insight: Snow and fog conditions show HIGHER average severity (2.7–2.9) despite fewer total incidents — rare but more dangerous.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576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B6D4"/>
                </a:solidFill>
              </a:rPr>
              <a:t>Let's walk through the complete pipeline end-to-end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560320" cy="2011680"/>
          </a:xfrm>
          <a:prstGeom prst="rect">
            <a:avLst/>
          </a:prstGeom>
          <a:solidFill>
            <a:srgbClr val="102840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+ Ingestion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194560"/>
            <a:ext cx="2560320" cy="2011680"/>
          </a:xfrm>
          <a:prstGeom prst="rect">
            <a:avLst/>
          </a:prstGeom>
          <a:solidFill>
            <a:srgbClr val="102840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154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194560"/>
            <a:ext cx="2560320" cy="2011680"/>
          </a:xfrm>
          <a:prstGeom prst="rect">
            <a:avLst/>
          </a:prstGeom>
          <a:solidFill>
            <a:srgbClr val="102840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72200" y="2240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7220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154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C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+ Visualization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97764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2064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3 GB CSV — too large for local tools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16916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17720" y="1600200"/>
            <a:ext cx="41605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17720" y="1600200"/>
            <a:ext cx="54864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73168" y="1691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Databricks single-node (16GB RAM) handles it with PySpark effortlessly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397764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12064" y="2286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Power BI cross-filtering with 5 separate tables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22860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17720" y="2194560"/>
            <a:ext cx="41605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17720" y="2194560"/>
            <a:ext cx="54864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73168" y="2286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Created agg_master as a denormalized fact table — standard DW pattern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8892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2788920"/>
            <a:ext cx="397764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278892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2064" y="2880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Azure free tier SQL limitations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43400" y="288036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17720" y="2788920"/>
            <a:ext cx="41605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17720" y="2788920"/>
            <a:ext cx="54864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73168" y="2880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Aggregating before loading: 400K rows vs 7.7M — sufficient for all BI queries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3832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5760" y="3383280"/>
            <a:ext cx="397764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65760" y="338328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12064" y="3474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ADF scheduler costs on free tier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43400" y="34747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617720" y="3383280"/>
            <a:ext cx="41605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17720" y="3383280"/>
            <a:ext cx="54864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73168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Manual trigger sufficient; production would use daily schedule via trigger_daily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9776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65760" y="3977640"/>
            <a:ext cx="397764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65760" y="3977640"/>
            <a:ext cx="5486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12064" y="4069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Secret management in notebooks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43400" y="406908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617720" y="3977640"/>
            <a:ext cx="41605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617720" y="3977640"/>
            <a:ext cx="54864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773168" y="4069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Placeholder YOUR_STORAGE_ACCOUNT_KEY in Git; regenerate key before every push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15690" y="726948"/>
            <a:ext cx="19126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7200" dirty="0">
              <a:solidFill>
                <a:srgbClr val="00206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221992"/>
            <a:ext cx="8229600" cy="713232"/>
          </a:xfrm>
          <a:prstGeom prst="rect">
            <a:avLst/>
          </a:prstGeom>
          <a:solidFill>
            <a:srgbClr val="0D3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ADLS Gen2 over Blob Storage?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56946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namespace — enables folder-level permissions and is optimized for big data analytics workloads.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26664"/>
            <a:ext cx="8229600" cy="713232"/>
          </a:xfrm>
          <a:prstGeom prst="rect">
            <a:avLst/>
          </a:prstGeom>
          <a:solidFill>
            <a:srgbClr val="0D3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307238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Parquet over CSV?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37413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format gives 10x compression and 3x faster reads; ideal for analytical queries on subsets of columns.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8229600" cy="713232"/>
          </a:xfrm>
          <a:prstGeom prst="rect">
            <a:avLst/>
          </a:prstGeom>
          <a:solidFill>
            <a:srgbClr val="0D3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387705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load full dataset to SQL?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41788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7.7M rows exceeds free tier; aggregates are sufficient for BI and answer all business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leads with 1.74M accidents (22% of all US)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20756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accidents are Severity 2 — moderate impact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4597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hours (7–8 AM, 4–5 PM) are peak danger windows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8437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weather paradox: clear skies = most accidents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3227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count grew 440% from 2016 to 2022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Future Improvements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71907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6636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(Bronze/Silver/Gold)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10312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66360" y="20756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via Azure Event Hubs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487168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66360" y="24597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model: accident severity prediction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871216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166360" y="28437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CI/CD for notebook deployment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255264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66360" y="3227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ADF trigger for daily refresh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71600" y="3977640"/>
            <a:ext cx="6400800" cy="914400"/>
          </a:xfrm>
          <a:prstGeom prst="rect">
            <a:avLst/>
          </a:prstGeom>
          <a:solidFill>
            <a:srgbClr val="0A1A2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371600" y="40416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71600" y="4434840"/>
            <a:ext cx="64008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dirty="0">
                <a:solidFill>
                  <a:srgbClr val="06B6D4"/>
                </a:solidFill>
              </a:rPr>
              <a:t>Jainil Malaviya  ·  Rohan </a:t>
            </a:r>
            <a:r>
              <a:rPr lang="en-US" sz="1000">
                <a:solidFill>
                  <a:srgbClr val="06B6D4"/>
                </a:solidFill>
              </a:rPr>
              <a:t>Raju </a:t>
            </a:r>
            <a:r>
              <a:rPr lang="en-US" sz="1000" dirty="0">
                <a:solidFill>
                  <a:srgbClr val="06B6D4"/>
                </a:solidFill>
              </a:rPr>
              <a:t> · </a:t>
            </a:r>
            <a:r>
              <a:rPr lang="en-US" sz="1000">
                <a:solidFill>
                  <a:srgbClr val="06B6D4"/>
                </a:solidFill>
              </a:rPr>
              <a:t>Prashanth  </a:t>
            </a:r>
            <a:r>
              <a:rPr lang="en-US" sz="1000" err="1">
                <a:solidFill>
                  <a:srgbClr val="06B6D4"/>
                </a:solidFill>
              </a:rPr>
              <a:t>Jayabal</a:t>
            </a:r>
            <a:r>
              <a:rPr lang="en-US" sz="1000" dirty="0">
                <a:solidFill>
                  <a:srgbClr val="06B6D4"/>
                </a:solidFill>
              </a:rPr>
              <a:t>  |  GitHub: jainil2111/azure-accident-analytics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8f69a1-7c9c-440a-960e-822c4631317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10BA166FD71540831CDAF715C62FE3" ma:contentTypeVersion="6" ma:contentTypeDescription="Create a new document." ma:contentTypeScope="" ma:versionID="dcddaf5f1d295e7a68040e3f00c7142c">
  <xsd:schema xmlns:xsd="http://www.w3.org/2001/XMLSchema" xmlns:xs="http://www.w3.org/2001/XMLSchema" xmlns:p="http://schemas.microsoft.com/office/2006/metadata/properties" xmlns:ns3="b48f69a1-7c9c-440a-960e-822c4631317c" targetNamespace="http://schemas.microsoft.com/office/2006/metadata/properties" ma:root="true" ma:fieldsID="03e8cb831903e122f675663952ec1692" ns3:_="">
    <xsd:import namespace="b48f69a1-7c9c-440a-960e-822c4631317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8f69a1-7c9c-440a-960e-822c4631317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893620-2955-4ABD-93C9-584064F5C1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E4EB01-C423-4B14-AD70-F0B5CFDA3ECE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b48f69a1-7c9c-440a-960e-822c4631317c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C1138DF-28EF-4C81-A1ED-189D9A4676E8}">
  <ds:schemaRefs>
    <ds:schemaRef ds:uri="b48f69a1-7c9c-440a-960e-822c4631317c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1499</Words>
  <Application>Microsoft Office PowerPoint</Application>
  <PresentationFormat>On-screen Show (16:9)</PresentationFormat>
  <Paragraphs>321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Accidents Analytics — Azure Data Engineering</dc:title>
  <dc:subject>PptxGenJS Presentation</dc:subject>
  <dc:creator>PptxGenJS</dc:creator>
  <cp:lastModifiedBy>Jainil Malaviya</cp:lastModifiedBy>
  <cp:revision>5</cp:revision>
  <cp:lastPrinted>2026-04-20T21:22:27Z</cp:lastPrinted>
  <dcterms:created xsi:type="dcterms:W3CDTF">2026-04-20T17:07:30Z</dcterms:created>
  <dcterms:modified xsi:type="dcterms:W3CDTF">2026-04-24T06:12:02Z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0x0101004E10BA166FD71540831CDAF715C62FE3</vt:lpwstr>
  </property>
</Properties>
</file>